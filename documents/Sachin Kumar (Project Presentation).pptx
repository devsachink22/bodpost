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70" r:id="rId11"/>
    <p:sldId id="265" r:id="rId12"/>
    <p:sldId id="266" r:id="rId13"/>
    <p:sldId id="267" r:id="rId14"/>
    <p:sldId id="275" r:id="rId15"/>
  </p:sldIdLst>
  <p:sldSz cx="12192000" cy="6858000"/>
  <p:notesSz cx="6858000" cy="9144000"/>
  <p:embeddedFontLst>
    <p:embeddedFont>
      <p:font typeface="Play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SDQ7BC82RvNIiJoDFkE6XiIqs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/>
    <p:restoredTop sz="9462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2302933"/>
            <a:ext cx="9144000" cy="225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4910667"/>
            <a:ext cx="9144000" cy="125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1524000" y="2302933"/>
            <a:ext cx="9144000" cy="225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524000" y="4910667"/>
            <a:ext cx="9144000" cy="125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2302933"/>
            <a:ext cx="9144000" cy="225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4910667"/>
            <a:ext cx="9144000" cy="125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ctrTitle"/>
          </p:nvPr>
        </p:nvSpPr>
        <p:spPr>
          <a:xfrm>
            <a:off x="1524000" y="2302933"/>
            <a:ext cx="9144000" cy="2252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524000" y="4910667"/>
            <a:ext cx="9144000" cy="125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646386" y="365125"/>
            <a:ext cx="8166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A82A"/>
              </a:buClr>
              <a:buSzPts val="4400"/>
              <a:buFont typeface="Arial"/>
              <a:buNone/>
              <a:defRPr b="1">
                <a:solidFill>
                  <a:srgbClr val="D6A8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655530" y="181127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646386" y="365125"/>
            <a:ext cx="8166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A82A"/>
              </a:buClr>
              <a:buSzPts val="4400"/>
              <a:buFont typeface="Arial"/>
              <a:buNone/>
              <a:defRPr b="1">
                <a:solidFill>
                  <a:srgbClr val="D6A8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>
            <a:off x="646386" y="1850009"/>
            <a:ext cx="10515601" cy="428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>
            <a:off x="646386" y="365125"/>
            <a:ext cx="816653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A82A"/>
              </a:buClr>
              <a:buSzPts val="4400"/>
              <a:buFont typeface="Arial"/>
              <a:buNone/>
              <a:defRPr b="1">
                <a:solidFill>
                  <a:srgbClr val="D6A8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>
            <a:off x="646386" y="1825625"/>
            <a:ext cx="10972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and Content">
  <p:cSld name="8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646386" y="365125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A82A"/>
              </a:buClr>
              <a:buSzPts val="4400"/>
              <a:buFont typeface="Arial"/>
              <a:buNone/>
              <a:defRPr b="1">
                <a:solidFill>
                  <a:srgbClr val="D6A8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>
            <a:off x="646386" y="1850009"/>
            <a:ext cx="10515601" cy="4282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and Content">
  <p:cSld name="9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646386" y="365125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A82A"/>
              </a:buClr>
              <a:buSzPts val="4400"/>
              <a:buFont typeface="Arial"/>
              <a:buNone/>
              <a:defRPr b="1">
                <a:solidFill>
                  <a:srgbClr val="D6A8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body" idx="1"/>
          </p:nvPr>
        </p:nvSpPr>
        <p:spPr>
          <a:xfrm>
            <a:off x="65553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Content">
  <p:cSld name="10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646386" y="365125"/>
            <a:ext cx="91755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1"/>
          </p:nvPr>
        </p:nvSpPr>
        <p:spPr>
          <a:xfrm>
            <a:off x="646386" y="1825625"/>
            <a:ext cx="511853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2"/>
          </p:nvPr>
        </p:nvSpPr>
        <p:spPr>
          <a:xfrm>
            <a:off x="6072355" y="1825625"/>
            <a:ext cx="511853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and Content">
  <p:cSld name="11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646386" y="365125"/>
            <a:ext cx="9175531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646386" y="1825625"/>
            <a:ext cx="511853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2"/>
          </p:nvPr>
        </p:nvSpPr>
        <p:spPr>
          <a:xfrm>
            <a:off x="6072355" y="1825625"/>
            <a:ext cx="511853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and Content">
  <p:cSld name="13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646387" y="365125"/>
            <a:ext cx="750701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A82A"/>
              </a:buClr>
              <a:buSzPts val="4400"/>
              <a:buFont typeface="Arial"/>
              <a:buNone/>
              <a:defRPr b="1">
                <a:solidFill>
                  <a:srgbClr val="D6A8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646386" y="1825625"/>
            <a:ext cx="7507014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itle and Content">
  <p:cSld name="15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646387" y="365125"/>
            <a:ext cx="833995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646386" y="1825625"/>
            <a:ext cx="833995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Title and Content">
  <p:cSld name="20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646387" y="365125"/>
            <a:ext cx="833995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A82A"/>
              </a:buClr>
              <a:buSzPts val="4400"/>
              <a:buFont typeface="Arial"/>
              <a:buNone/>
              <a:defRPr b="1">
                <a:solidFill>
                  <a:srgbClr val="D6A8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0"/>
          <p:cNvSpPr txBox="1">
            <a:spLocks noGrp="1"/>
          </p:cNvSpPr>
          <p:nvPr>
            <p:ph type="body" idx="1"/>
          </p:nvPr>
        </p:nvSpPr>
        <p:spPr>
          <a:xfrm>
            <a:off x="646386" y="1825625"/>
            <a:ext cx="8339960" cy="4149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Title and Content">
  <p:cSld name="16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>
            <a:spLocks noGrp="1"/>
          </p:cNvSpPr>
          <p:nvPr>
            <p:ph type="title"/>
          </p:nvPr>
        </p:nvSpPr>
        <p:spPr>
          <a:xfrm>
            <a:off x="646386" y="365125"/>
            <a:ext cx="1086244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A82A"/>
              </a:buClr>
              <a:buSzPts val="4400"/>
              <a:buFont typeface="Arial"/>
              <a:buNone/>
              <a:defRPr b="1">
                <a:solidFill>
                  <a:srgbClr val="D6A82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646386" y="1825625"/>
            <a:ext cx="53392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2"/>
          </p:nvPr>
        </p:nvSpPr>
        <p:spPr>
          <a:xfrm>
            <a:off x="6169575" y="1825625"/>
            <a:ext cx="53392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End Slide" preserve="1">
  <p:cSld name="Large Pictur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945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End Slide" preserve="1">
  <p:cSld name="22_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1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5" r:id="rId12"/>
    <p:sldLayoutId id="2147483666" r:id="rId13"/>
    <p:sldLayoutId id="2147483667" r:id="rId14"/>
    <p:sldLayoutId id="2147483668" r:id="rId15"/>
    <p:sldLayoutId id="2147483674" r:id="rId16"/>
    <p:sldLayoutId id="214748367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vsachink22/BodPos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devsachink22/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51A81D-80C1-4D62-B82A-D9F60673E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7333"/>
            <a:ext cx="9144000" cy="1324897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BodPost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(AI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Real-Time Body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Posture Detection)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E24E3DC-628E-43B0-8258-E94D35E44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72230"/>
            <a:ext cx="9144000" cy="289150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Machine Learning Project by Sachin Kumar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https://github.com/devsachink22/BodPost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41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4EC674-E9CB-4C31-83A3-B03197403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1489"/>
            <a:ext cx="9144000" cy="8433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BodPost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4B1A9FB-6F94-434D-9B45-4154BF157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44879"/>
            <a:ext cx="9144000" cy="3518854"/>
          </a:xfrm>
        </p:spPr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Poor posture leads to back pain, fatigue, and musculoskeletal disorders.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Manual posture monitoring is inefficient.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Need for a real-time, AI-based posture detection system.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I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BodPost</a:t>
            </a: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automates posture detection using computer vision and ML.</a:t>
            </a:r>
          </a:p>
        </p:txBody>
      </p:sp>
    </p:spTree>
    <p:extLst>
      <p:ext uri="{BB962C8B-B14F-4D97-AF65-F5344CB8AC3E}">
        <p14:creationId xmlns:p14="http://schemas.microsoft.com/office/powerpoint/2010/main" val="3930385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5DBCB3-BCD0-487C-9EA2-8999621F26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5114"/>
            <a:ext cx="9144000" cy="80406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BodPost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4A50EEE-181E-4462-AA8E-DB3CA95558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79176"/>
            <a:ext cx="9144000" cy="3184558"/>
          </a:xfrm>
        </p:spPr>
        <p:txBody>
          <a:bodyPr>
            <a:norm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AI-powered system for classifying posture in real-time.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MediaPipe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 pose estimation.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Extracts posture features from body landmarks.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Uses Machine Learning to classify posture as Correct or Incorrect.</a:t>
            </a:r>
          </a:p>
        </p:txBody>
      </p:sp>
    </p:spTree>
    <p:extLst>
      <p:ext uri="{BB962C8B-B14F-4D97-AF65-F5344CB8AC3E}">
        <p14:creationId xmlns:p14="http://schemas.microsoft.com/office/powerpoint/2010/main" val="1902468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7687FB-CA4C-4F7C-AF64-EA963118F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02934"/>
            <a:ext cx="9144000" cy="72540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E26E5C1-CB22-4178-A5E5-B2C2BD269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28336"/>
            <a:ext cx="9144000" cy="14278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clicked around 840 images with different pose and angles to prepare an unlabeled dataset &amp; further split those images into two categories – Correct &amp; Incorrect.</a:t>
            </a:r>
          </a:p>
        </p:txBody>
      </p:sp>
    </p:spTree>
    <p:extLst>
      <p:ext uri="{BB962C8B-B14F-4D97-AF65-F5344CB8AC3E}">
        <p14:creationId xmlns:p14="http://schemas.microsoft.com/office/powerpoint/2010/main" val="2802044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9457E-0690-4410-8E11-8D906588A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858" y="2078514"/>
            <a:ext cx="10515600" cy="802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(Images to CSV)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45497A-3859-4C8C-8F58-F8175524B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858" y="2880852"/>
            <a:ext cx="10515600" cy="1986116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33 human body landmarks from each image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x-coordinate, y-coordinate and visibility score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from each landmark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them into a row in CSV</a:t>
            </a:r>
          </a:p>
        </p:txBody>
      </p:sp>
    </p:spTree>
    <p:extLst>
      <p:ext uri="{BB962C8B-B14F-4D97-AF65-F5344CB8AC3E}">
        <p14:creationId xmlns:p14="http://schemas.microsoft.com/office/powerpoint/2010/main" val="1302091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A6257A-B286-40C1-B4F1-CAC430F1D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(Random Forest Binary Classification)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A0F7E-2BF3-48A0-8D85-BCADA6B5A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Loading Dataset</a:t>
            </a:r>
          </a:p>
          <a:p>
            <a:r>
              <a:rPr lang="en-US" dirty="0"/>
              <a:t>Selecting Features and Labels.</a:t>
            </a:r>
          </a:p>
          <a:p>
            <a:r>
              <a:rPr lang="en-US" dirty="0"/>
              <a:t>Train/Test Split</a:t>
            </a:r>
          </a:p>
          <a:p>
            <a:r>
              <a:rPr lang="en-US" dirty="0"/>
              <a:t>Preprocessing (Standard Scaler &amp; Label Encoding)</a:t>
            </a:r>
          </a:p>
          <a:p>
            <a:r>
              <a:rPr lang="en-US" dirty="0"/>
              <a:t>Model Selection (Random Forest Classification)</a:t>
            </a:r>
          </a:p>
          <a:p>
            <a:r>
              <a:rPr lang="en-US" dirty="0"/>
              <a:t>Hyperparameters Optimization using </a:t>
            </a:r>
            <a:r>
              <a:rPr lang="en-US" dirty="0" err="1"/>
              <a:t>GridSearch</a:t>
            </a:r>
            <a:r>
              <a:rPr lang="en-US" dirty="0"/>
              <a:t> CV</a:t>
            </a:r>
          </a:p>
          <a:p>
            <a:r>
              <a:rPr lang="en-US" dirty="0"/>
              <a:t>Model Evaluation</a:t>
            </a:r>
          </a:p>
          <a:p>
            <a:r>
              <a:rPr lang="en-US" dirty="0"/>
              <a:t>Saving trained model and selected features</a:t>
            </a:r>
          </a:p>
        </p:txBody>
      </p:sp>
    </p:spTree>
    <p:extLst>
      <p:ext uri="{BB962C8B-B14F-4D97-AF65-F5344CB8AC3E}">
        <p14:creationId xmlns:p14="http://schemas.microsoft.com/office/powerpoint/2010/main" val="3009240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57379A-BF09-4E0B-B04E-4C54E0900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86" y="500062"/>
            <a:ext cx="8166538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Time Posture Detection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181B1-C312-4007-8096-0689CF82E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86" y="1825625"/>
            <a:ext cx="10972800" cy="400490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web camera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real time human body landmarks from each frame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real time landmarks into feature vectors in exact same order as model was trained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Feeds them into trained model to predict:</a:t>
            </a:r>
          </a:p>
          <a:p>
            <a:pPr marL="5334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Correct Posture (0)</a:t>
            </a:r>
          </a:p>
          <a:p>
            <a:pPr marL="5334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Incorrect Posture (1)</a:t>
            </a:r>
          </a:p>
          <a:p>
            <a:pPr marL="533400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status as text + color overlay on web camera feed</a:t>
            </a:r>
          </a:p>
        </p:txBody>
      </p:sp>
    </p:spTree>
    <p:extLst>
      <p:ext uri="{BB962C8B-B14F-4D97-AF65-F5344CB8AC3E}">
        <p14:creationId xmlns:p14="http://schemas.microsoft.com/office/powerpoint/2010/main" val="2487472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DCA38E-533F-4731-A9BE-44B842E6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86" y="639097"/>
            <a:ext cx="10972800" cy="105159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Classification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3846FD-2D57-4A02-B901-2943879B6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86" y="1850009"/>
            <a:ext cx="10972800" cy="4282567"/>
          </a:xfrm>
        </p:spPr>
        <p:txBody>
          <a:bodyPr>
            <a:normAutofit fontScale="92500" lnSpcReduction="10000"/>
          </a:bodyPr>
          <a:lstStyle/>
          <a:p>
            <a:pPr marL="508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Classification is an ensembled machine learning algorithm that combines multiple decision trees to make accurate and stable prediction.</a:t>
            </a:r>
          </a:p>
          <a:p>
            <a:pPr marL="508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Random?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Sampling of Features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max_features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min_features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Sampling of Data (Bootstrap)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Forest?</a:t>
            </a:r>
          </a:p>
          <a:p>
            <a:pPr marL="508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trains many trees, not just one.</a:t>
            </a:r>
          </a:p>
        </p:txBody>
      </p:sp>
    </p:spTree>
    <p:extLst>
      <p:ext uri="{BB962C8B-B14F-4D97-AF65-F5344CB8AC3E}">
        <p14:creationId xmlns:p14="http://schemas.microsoft.com/office/powerpoint/2010/main" val="3202856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DB0B4D-2D77-4629-9845-9A05D5F04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85" y="1101213"/>
            <a:ext cx="9805305" cy="112041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&amp;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CV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201F3D-0373-43AF-B8B8-3D671ED19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85" y="2221629"/>
            <a:ext cx="7966673" cy="295244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is a core part of machine learning that deals with overfit or underfit data.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Cross Validation is a brute force searching technique that uses all the combinations of defined hyperparameters to find the best once for the given dataset.</a:t>
            </a:r>
          </a:p>
        </p:txBody>
      </p:sp>
    </p:spTree>
    <p:extLst>
      <p:ext uri="{BB962C8B-B14F-4D97-AF65-F5344CB8AC3E}">
        <p14:creationId xmlns:p14="http://schemas.microsoft.com/office/powerpoint/2010/main" val="1428148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FBE3-F0F4-11FB-4119-F1B4CA7A0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206092"/>
            <a:ext cx="9144000" cy="7057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System Architecture</a:t>
            </a:r>
          </a:p>
        </p:txBody>
      </p:sp>
      <p:pic>
        <p:nvPicPr>
          <p:cNvPr id="5" name="Picture 4" descr="A diagram of a process flow">
            <a:extLst>
              <a:ext uri="{FF2B5EF4-FFF2-40B4-BE49-F238E27FC236}">
                <a16:creationId xmlns:a16="http://schemas.microsoft.com/office/drawing/2014/main" id="{FF470AF5-D4BB-23B6-56CD-59CE4BE35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450" y="1911830"/>
            <a:ext cx="6735097" cy="474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8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651C69-8FE9-4711-89C9-ED4988032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86" y="609600"/>
            <a:ext cx="10972800" cy="113024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(Classification Report)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FA445B-93C7-46ED-B7AB-9D2288F51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530" y="1739849"/>
            <a:ext cx="10963656" cy="4351338"/>
          </a:xfrm>
        </p:spPr>
        <p:txBody>
          <a:bodyPr>
            <a:normAutofit fontScale="62500" lnSpcReduction="20000"/>
          </a:bodyPr>
          <a:lstStyle/>
          <a:p>
            <a:pPr marL="5080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</a:p>
          <a:p>
            <a:pPr marL="5080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[[56  1]</a:t>
            </a:r>
          </a:p>
          <a:p>
            <a:pPr marL="5080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[ 2 85]]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Accuracy: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0.9896</a:t>
            </a:r>
          </a:p>
          <a:p>
            <a:pPr marL="508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 performance:</a:t>
            </a:r>
          </a:p>
          <a:p>
            <a:pPr marL="508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precision    recall  f1-score   support</a:t>
            </a:r>
          </a:p>
          <a:p>
            <a:pPr marL="508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class_0      0.97        0.98       0.97         57</a:t>
            </a:r>
          </a:p>
          <a:p>
            <a:pPr marL="508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class_1      0.99        0.98       0.98         87</a:t>
            </a:r>
          </a:p>
          <a:p>
            <a:pPr marL="508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accuracy                                   0.98       144</a:t>
            </a:r>
          </a:p>
          <a:p>
            <a:pPr marL="508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macro avg       0.98      0.98      0.98       144</a:t>
            </a:r>
          </a:p>
          <a:p>
            <a:pPr marL="5080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avg       0.98      0.98     0.98       144</a:t>
            </a:r>
          </a:p>
          <a:p>
            <a:pPr marL="508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370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217292-A353-4EEF-A6A3-1C782D96B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721" y="1705950"/>
            <a:ext cx="8015833" cy="124736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Future Scope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0DA0FB-BE99-45F4-85CE-0D50A2D92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748" y="2868409"/>
            <a:ext cx="10544504" cy="2306943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and exercise posture correction.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rehabilitation assistance.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Multi-class posture detection in future.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Posture scoring and alert system.</a:t>
            </a:r>
          </a:p>
        </p:txBody>
      </p:sp>
    </p:spTree>
    <p:extLst>
      <p:ext uri="{BB962C8B-B14F-4D97-AF65-F5344CB8AC3E}">
        <p14:creationId xmlns:p14="http://schemas.microsoft.com/office/powerpoint/2010/main" val="1441778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4F2199-52B6-4278-8C84-8E4D44B7C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86" y="1238865"/>
            <a:ext cx="10434569" cy="120890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6FF3D-B95D-4DB3-AF8F-D04B43A55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86" y="2447772"/>
            <a:ext cx="10434569" cy="357228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this binary classification model into multi classification model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ergonomic risk scoring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cloud dashboard for posture logging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model as a web app (Flask/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pose-correction suggestions using vector geometry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wearable devices</a:t>
            </a:r>
          </a:p>
        </p:txBody>
      </p:sp>
    </p:spTree>
    <p:extLst>
      <p:ext uri="{BB962C8B-B14F-4D97-AF65-F5344CB8AC3E}">
        <p14:creationId xmlns:p14="http://schemas.microsoft.com/office/powerpoint/2010/main" val="2101617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55D55-3E06-42DD-8F24-32DC21DFF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86" y="365125"/>
            <a:ext cx="10862442" cy="6035675"/>
          </a:xfrm>
        </p:spPr>
        <p:txBody>
          <a:bodyPr/>
          <a:lstStyle/>
          <a:p>
            <a:pPr algn="ctr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https://www.linkedin.com/in/devsachink22/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963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540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Times New Roman</vt:lpstr>
      <vt:lpstr>Arial</vt:lpstr>
      <vt:lpstr>Play</vt:lpstr>
      <vt:lpstr>Office Theme</vt:lpstr>
      <vt:lpstr>BodPost (AI Based Real-Time Body Posture Detection)</vt:lpstr>
      <vt:lpstr>Problem Statement (BodPost)</vt:lpstr>
      <vt:lpstr>Proposed Solution (BodPost)</vt:lpstr>
      <vt:lpstr>Data Collection</vt:lpstr>
      <vt:lpstr>Feature Engineering (Images to CSV)</vt:lpstr>
      <vt:lpstr>Model Training (Random Forest Binary Classification)</vt:lpstr>
      <vt:lpstr>Real Time Posture Detection</vt:lpstr>
      <vt:lpstr>Random Forest Classification</vt:lpstr>
      <vt:lpstr>Hyperparameters &amp; GridSearch CV</vt:lpstr>
      <vt:lpstr>Full System Architecture</vt:lpstr>
      <vt:lpstr>Model Performance (Classification Report)</vt:lpstr>
      <vt:lpstr>Applications &amp; Future Scope</vt:lpstr>
      <vt:lpstr>Future Enhancements</vt:lpstr>
      <vt:lpstr>Thank You  https://www.linkedin.com/in/devsachink22/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Richardson, Grace Eva</dc:creator>
  <cp:lastModifiedBy>Sachin Kumar</cp:lastModifiedBy>
  <cp:revision>6</cp:revision>
  <dcterms:created xsi:type="dcterms:W3CDTF">2024-08-09T16:36:02Z</dcterms:created>
  <dcterms:modified xsi:type="dcterms:W3CDTF">2025-12-09T15:17:32Z</dcterms:modified>
</cp:coreProperties>
</file>